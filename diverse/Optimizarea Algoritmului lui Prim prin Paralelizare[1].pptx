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5918897-5AF7-4537-BD3E-E8E273C8D3E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7D62213-E837-43AF-98E4-A8A01C1406B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BFFB0A1-C10D-439C-9832-F871D292348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199385A-41D4-4703-9678-8A5127198D7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FEF1623-9D67-4009-BE9D-B1F8E8A0A5A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66B896D-E82C-4F1D-831C-08EECB8E254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6B30FD9-7510-41E9-83F6-0A066DFF241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9E75F88-8E2E-4A8E-A279-49777BA7CB4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428C204-B2AC-415F-AD03-C7C48F7FB1D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CF65E29-9C05-450D-A25C-2030C401F71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F0732AF-5C1D-4853-B0E4-CC9C452AC2F1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1B10C18-64B8-4D85-89CA-E727BFC1314D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00BA86E-B0F3-4685-AD30-E07C3964616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2B18D28-0C3C-4978-9F71-7AE9C1803E8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E882E7E-8886-4EAF-8806-C8EF79F9F06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47E33A4-594D-4245-A01A-2A4EE4B3BF5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D3921B3-22D4-45C2-82DB-0A4319FA7EF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D608693-B94F-4552-B9B0-FF0DBB2EE0C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D78CBB5-F729-4F6F-9F8F-0ABF035265E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57D3036-D916-4851-9EDB-DA1FDB4F79B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75967B8-2F65-4BD6-9CFF-CD3BC777913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7169D9D-1978-478C-AC84-BE80D17AD435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605647D-3A5E-4E17-89A5-C65C3E8B4FD4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3294CD6-1F26-4B9F-9413-D871B27EFF7C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9"/>
          <p:cNvSpPr/>
          <p:nvPr/>
        </p:nvSpPr>
        <p:spPr>
          <a:xfrm flipH="1">
            <a:off x="565920" y="6286320"/>
            <a:ext cx="1105992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" name="Straight Connector 7"/>
          <p:cNvSpPr/>
          <p:nvPr/>
        </p:nvSpPr>
        <p:spPr>
          <a:xfrm flipH="1">
            <a:off x="577440" y="1883160"/>
            <a:ext cx="1105956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Straight Connector 8"/>
          <p:cNvSpPr/>
          <p:nvPr/>
        </p:nvSpPr>
        <p:spPr>
          <a:xfrm flipH="1">
            <a:off x="577440" y="571320"/>
            <a:ext cx="1105956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Straight Connector 8"/>
          <p:cNvSpPr/>
          <p:nvPr/>
        </p:nvSpPr>
        <p:spPr>
          <a:xfrm flipH="1">
            <a:off x="571320" y="571320"/>
            <a:ext cx="1105992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Straight Connector 9"/>
          <p:cNvSpPr/>
          <p:nvPr/>
        </p:nvSpPr>
        <p:spPr>
          <a:xfrm>
            <a:off x="7742160" y="571320"/>
            <a:ext cx="360" cy="5715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Straight Connector 18"/>
          <p:cNvSpPr/>
          <p:nvPr/>
        </p:nvSpPr>
        <p:spPr>
          <a:xfrm flipH="1">
            <a:off x="577440" y="6283440"/>
            <a:ext cx="1105956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71680" y="689400"/>
            <a:ext cx="11048400" cy="108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ftr" idx="1"/>
          </p:nvPr>
        </p:nvSpPr>
        <p:spPr>
          <a:xfrm>
            <a:off x="475920" y="639720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sldNum" idx="2"/>
          </p:nvPr>
        </p:nvSpPr>
        <p:spPr>
          <a:xfrm>
            <a:off x="11024640" y="6397200"/>
            <a:ext cx="7002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800" b="0" strike="noStrike" spc="-1">
                <a:solidFill>
                  <a:srgbClr val="000000"/>
                </a:solidFill>
                <a:latin typeface="Avenir Next LT Pro Ligh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481CC7-D6D0-4192-A5E6-665428B26966}" type="slidenum">
              <a:rPr lang="en-US" sz="800" b="0" strike="noStrike" spc="-1">
                <a:solidFill>
                  <a:srgbClr val="000000"/>
                </a:solidFill>
                <a:latin typeface="Avenir Next LT Pro Light"/>
              </a:rPr>
              <a:t>‹#›</a:t>
            </a:fld>
            <a:endParaRPr lang="en-US" sz="800" b="0" strike="noStrike" spc="-1"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3"/>
          </p:nvPr>
        </p:nvSpPr>
        <p:spPr>
          <a:xfrm>
            <a:off x="8036640" y="6397200"/>
            <a:ext cx="30913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traight Connector 19"/>
          <p:cNvSpPr/>
          <p:nvPr/>
        </p:nvSpPr>
        <p:spPr>
          <a:xfrm flipH="1">
            <a:off x="565920" y="6286320"/>
            <a:ext cx="1105992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Straight Connector 7"/>
          <p:cNvSpPr/>
          <p:nvPr/>
        </p:nvSpPr>
        <p:spPr>
          <a:xfrm flipH="1">
            <a:off x="577440" y="1883160"/>
            <a:ext cx="1105956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Straight Connector 8"/>
          <p:cNvSpPr/>
          <p:nvPr/>
        </p:nvSpPr>
        <p:spPr>
          <a:xfrm flipH="1">
            <a:off x="577440" y="571320"/>
            <a:ext cx="1105956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PlaceHolder 1"/>
          <p:cNvSpPr>
            <a:spLocks noGrp="1"/>
          </p:cNvSpPr>
          <p:nvPr>
            <p:ph type="ftr" idx="4"/>
          </p:nvPr>
        </p:nvSpPr>
        <p:spPr>
          <a:xfrm>
            <a:off x="475920" y="639720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sldNum" idx="5"/>
          </p:nvPr>
        </p:nvSpPr>
        <p:spPr>
          <a:xfrm>
            <a:off x="11024640" y="6397200"/>
            <a:ext cx="7002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800" b="0" strike="noStrike" spc="-1">
                <a:solidFill>
                  <a:srgbClr val="000000"/>
                </a:solidFill>
                <a:latin typeface="Avenir Next LT Pro Ligh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F37AB69-7575-4C93-A1F4-D835F926595E}" type="slidenum">
              <a:rPr lang="en-US" sz="800" b="0" strike="noStrike" spc="-1">
                <a:solidFill>
                  <a:srgbClr val="000000"/>
                </a:solidFill>
                <a:latin typeface="Avenir Next LT Pro Light"/>
              </a:rPr>
              <a:t>‹#›</a:t>
            </a:fld>
            <a:endParaRPr lang="en-US" sz="800" b="0" strike="noStrike" spc="-1"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6"/>
          </p:nvPr>
        </p:nvSpPr>
        <p:spPr>
          <a:xfrm>
            <a:off x="8036640" y="6397200"/>
            <a:ext cx="30913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0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92" name="Picture 7" descr="A green and purple smoke&#10;&#10;Description automatically generated"/>
          <p:cNvPicPr/>
          <p:nvPr/>
        </p:nvPicPr>
        <p:blipFill>
          <a:blip r:embed="rId2">
            <a:alphaModFix amt="60000"/>
          </a:blip>
          <a:srcRect t="19807" r="-2" b="384"/>
          <a:stretch/>
        </p:blipFill>
        <p:spPr>
          <a:xfrm>
            <a:off x="2880" y="0"/>
            <a:ext cx="12188160" cy="6857280"/>
          </a:xfrm>
          <a:prstGeom prst="rect">
            <a:avLst/>
          </a:prstGeom>
          <a:ln w="0">
            <a:noFill/>
          </a:ln>
        </p:spPr>
      </p:pic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21280" y="822960"/>
            <a:ext cx="7212240" cy="50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5600" b="0" strike="noStrike" spc="-100">
                <a:solidFill>
                  <a:srgbClr val="FFFFFF"/>
                </a:solidFill>
                <a:latin typeface="바탕"/>
                <a:ea typeface="바탕"/>
              </a:rPr>
              <a:t>Optimizarea Algoritmului lui Prim prin Paralelizare</a:t>
            </a:r>
            <a:br>
              <a:rPr sz="5600"/>
            </a:br>
            <a:br>
              <a:rPr sz="5600"/>
            </a:br>
            <a:endParaRPr lang="en-US" sz="5600" b="0" strike="noStrike" spc="-1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9261360" y="3041640"/>
            <a:ext cx="2428920" cy="285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>
              <a:lnSpc>
                <a:spcPct val="13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strike="noStrike" cap="all" spc="296">
                <a:solidFill>
                  <a:srgbClr val="FFFFFF"/>
                </a:solidFill>
                <a:latin typeface="Avenir Next LT Pro Light"/>
              </a:rPr>
              <a:t>Implementări OpenMP, Pthreads, MPI și Hybrid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5" name="Straight Connector 12"/>
          <p:cNvSpPr/>
          <p:nvPr/>
        </p:nvSpPr>
        <p:spPr>
          <a:xfrm flipH="1">
            <a:off x="560160" y="571320"/>
            <a:ext cx="11060280" cy="36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6" name="Straight Connector 14"/>
          <p:cNvSpPr/>
          <p:nvPr/>
        </p:nvSpPr>
        <p:spPr>
          <a:xfrm>
            <a:off x="8877240" y="571320"/>
            <a:ext cx="360" cy="57150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7" name="Straight Connector 16"/>
          <p:cNvSpPr/>
          <p:nvPr/>
        </p:nvSpPr>
        <p:spPr>
          <a:xfrm flipH="1">
            <a:off x="565560" y="6287760"/>
            <a:ext cx="11060280" cy="36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8" name="TextBox 5"/>
          <p:cNvSpPr/>
          <p:nvPr/>
        </p:nvSpPr>
        <p:spPr>
          <a:xfrm>
            <a:off x="1285920" y="4295880"/>
            <a:ext cx="6523920" cy="71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venir Next LT Pro Light"/>
                <a:ea typeface="DejaVu Sans"/>
              </a:rPr>
              <a:t>Autori: Melih Riza, Florin-Ioan Sub</a:t>
            </a:r>
            <a:r>
              <a:rPr lang="ro-RO" sz="1800" b="0" strike="noStrike" spc="-1">
                <a:solidFill>
                  <a:srgbClr val="000000"/>
                </a:solidFill>
                <a:latin typeface="Avenir Next LT Pro Light"/>
                <a:ea typeface="DejaVu Sans"/>
              </a:rPr>
              <a:t>țirică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lang="ro-RO" sz="1800" b="0" strike="noStrike" spc="-1">
                <a:solidFill>
                  <a:srgbClr val="000000"/>
                </a:solidFill>
                <a:latin typeface="Avenir Next LT Pro Light"/>
                <a:ea typeface="DejaVu Sans"/>
              </a:rPr>
              <a:t>Data</a:t>
            </a:r>
            <a:r>
              <a:rPr lang="en-US" sz="1800" b="0" strike="noStrike" spc="-1">
                <a:solidFill>
                  <a:srgbClr val="000000"/>
                </a:solidFill>
                <a:latin typeface="Avenir Next LT Pro Light"/>
                <a:ea typeface="DejaVu Sans"/>
              </a:rPr>
              <a:t>: 08.01.2025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7E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2"/>
          <p:cNvSpPr/>
          <p:nvPr/>
        </p:nvSpPr>
        <p:spPr>
          <a:xfrm>
            <a:off x="-6840" y="0"/>
            <a:ext cx="12198240" cy="685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21280" y="786240"/>
            <a:ext cx="3622680" cy="2664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000" b="1" strike="noStrike" spc="-100">
                <a:solidFill>
                  <a:srgbClr val="000000"/>
                </a:solidFill>
                <a:latin typeface="바탕"/>
                <a:ea typeface="바탕"/>
              </a:rPr>
              <a:t>Definirea problemei</a:t>
            </a:r>
            <a:br>
              <a:rPr sz="4000"/>
            </a:br>
            <a:endParaRPr lang="en-US" sz="4000" b="0" strike="noStrike" spc="-1">
              <a:latin typeface="Arial"/>
            </a:endParaRPr>
          </a:p>
        </p:txBody>
      </p:sp>
      <p:sp>
        <p:nvSpPr>
          <p:cNvPr id="101" name="Straight Connector 14"/>
          <p:cNvSpPr/>
          <p:nvPr/>
        </p:nvSpPr>
        <p:spPr>
          <a:xfrm flipH="1">
            <a:off x="571320" y="571320"/>
            <a:ext cx="1105452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02" name="Graphic 7"/>
          <p:cNvPicPr/>
          <p:nvPr/>
        </p:nvPicPr>
        <p:blipFill>
          <a:blip r:embed="rId2"/>
          <a:stretch/>
        </p:blipFill>
        <p:spPr>
          <a:xfrm>
            <a:off x="125280" y="2709360"/>
            <a:ext cx="4217760" cy="2319480"/>
          </a:xfrm>
          <a:prstGeom prst="rect">
            <a:avLst/>
          </a:prstGeom>
          <a:ln w="0">
            <a:noFill/>
          </a:ln>
        </p:spPr>
      </p:pic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931640" y="989280"/>
            <a:ext cx="6698880" cy="5020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venir Next LT Pro Light (Body)"/>
              </a:rPr>
              <a:t>Algoritmul lui Prim</a:t>
            </a:r>
            <a:endParaRPr lang="en-US" sz="1800" b="0" strike="noStrike" spc="-1">
              <a:latin typeface="Arial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venir Next LT Pro Light (Body)"/>
              </a:rPr>
              <a:t>Găsește arborele minim de acoperire dintr-un graf conex ponderat.</a:t>
            </a:r>
            <a:endParaRPr lang="en-US" sz="1800" b="0" strike="noStrike" spc="-1">
              <a:latin typeface="Arial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venir Next LT Pro Light (Body)"/>
              </a:rPr>
              <a:t>Rezultatul este un subgraf ce conectează toate nodurile, cu cost minim, fără cicluri.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venir Next LT Pro Light (Body)"/>
              </a:rPr>
              <a:t>Aplicații</a:t>
            </a:r>
            <a:endParaRPr lang="en-US" sz="1800" b="0" strike="noStrike" spc="-1">
              <a:latin typeface="Arial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venir Next LT Pro Light (Body)"/>
              </a:rPr>
              <a:t>Rețele de comunicații.</a:t>
            </a:r>
            <a:endParaRPr lang="en-US" sz="1800" b="0" strike="noStrike" spc="-1">
              <a:latin typeface="Arial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venir Next LT Pro Light (Body)"/>
              </a:rPr>
              <a:t>Proiectarea rețelelor electrice.</a:t>
            </a:r>
            <a:endParaRPr lang="en-US" sz="1800" b="0" strike="noStrike" spc="-1">
              <a:latin typeface="Arial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venir Next LT Pro Light (Body)"/>
              </a:rPr>
              <a:t>Optimizarea rutelor de transport.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04" name="Straight Connector 16"/>
          <p:cNvSpPr/>
          <p:nvPr/>
        </p:nvSpPr>
        <p:spPr>
          <a:xfrm flipH="1">
            <a:off x="571320" y="6286320"/>
            <a:ext cx="1105488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5" name="Straight Connector 18"/>
          <p:cNvSpPr/>
          <p:nvPr/>
        </p:nvSpPr>
        <p:spPr>
          <a:xfrm>
            <a:off x="4422600" y="571320"/>
            <a:ext cx="360" cy="5715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/>
          <p:cNvSpPr/>
          <p:nvPr/>
        </p:nvSpPr>
        <p:spPr>
          <a:xfrm>
            <a:off x="5486400" y="228600"/>
            <a:ext cx="5714640" cy="8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1" strike="noStrike" spc="-100">
                <a:solidFill>
                  <a:srgbClr val="000000"/>
                </a:solidFill>
                <a:latin typeface="바탕"/>
                <a:ea typeface="바탕"/>
              </a:rPr>
              <a:t>Algorim Serial - Pseudocod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228600" y="685800"/>
            <a:ext cx="7772040" cy="50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strike="noStrike" spc="-1">
                <a:solidFill>
                  <a:srgbClr val="55308D"/>
                </a:solidFill>
                <a:latin typeface="Avenir Next LT Pro Light"/>
                <a:ea typeface="바탕"/>
              </a:rPr>
              <a:t>function get_min(n, mst_set, key):</a:t>
            </a:r>
            <a:br>
              <a:rPr sz="1400"/>
            </a:br>
            <a:r>
              <a:rPr lang="en-US" sz="1400" b="1" strike="noStrike" spc="-1">
                <a:solidFill>
                  <a:srgbClr val="55308D"/>
                </a:solidFill>
                <a:latin typeface="Avenir Next LT Pro Light"/>
                <a:ea typeface="바탕"/>
              </a:rPr>
              <a:t>     min = ∞, idx = -1;</a:t>
            </a:r>
            <a:br>
              <a:rPr sz="1400"/>
            </a:br>
            <a:r>
              <a:rPr lang="en-US" sz="1400" b="1" strike="noStrike" spc="-1">
                <a:solidFill>
                  <a:srgbClr val="55308D"/>
                </a:solidFill>
                <a:latin typeface="Avenir Next LT Pro Light"/>
                <a:ea typeface="바탕"/>
              </a:rPr>
              <a:t>     for v from 0 to n – 1:</a:t>
            </a:r>
            <a:br>
              <a:rPr sz="1400"/>
            </a:br>
            <a:r>
              <a:rPr lang="en-US" sz="1400" b="1" strike="noStrike" spc="-1">
                <a:solidFill>
                  <a:srgbClr val="55308D"/>
                </a:solidFill>
                <a:latin typeface="Avenir Next LT Pro Light"/>
                <a:ea typeface="바탕"/>
              </a:rPr>
              <a:t>          if mst_set[v] == 0 &amp;&amp; key[v] &lt; min:</a:t>
            </a:r>
            <a:br>
              <a:rPr sz="1400"/>
            </a:br>
            <a:r>
              <a:rPr lang="en-US" sz="1400" b="1" strike="noStrike" spc="-1">
                <a:solidFill>
                  <a:srgbClr val="55308D"/>
                </a:solidFill>
                <a:latin typeface="Avenir Next LT Pro Light"/>
                <a:ea typeface="바탕"/>
              </a:rPr>
              <a:t>               min = key[v]</a:t>
            </a:r>
            <a:br>
              <a:rPr sz="1400"/>
            </a:br>
            <a:r>
              <a:rPr lang="en-US" sz="1400" b="1" strike="noStrike" spc="-1">
                <a:solidFill>
                  <a:srgbClr val="55308D"/>
                </a:solidFill>
                <a:latin typeface="Avenir Next LT Pro Light"/>
                <a:ea typeface="바탕"/>
              </a:rPr>
              <a:t>	idx = v;</a:t>
            </a:r>
            <a:br>
              <a:rPr sz="1400"/>
            </a:br>
            <a:r>
              <a:rPr lang="en-US" sz="1400" b="1" strike="noStrike" spc="-1">
                <a:solidFill>
                  <a:srgbClr val="55308D"/>
                </a:solidFill>
                <a:latin typeface="Avenir Next LT Pro Light"/>
                <a:ea typeface="바탕"/>
              </a:rPr>
              <a:t>     return idx;</a:t>
            </a:r>
            <a:r>
              <a:rPr lang="en-US" sz="1400" b="1" strike="noStrike" spc="-1">
                <a:solidFill>
                  <a:srgbClr val="000000"/>
                </a:solidFill>
                <a:latin typeface="Avenir Next LT Pro Light"/>
                <a:ea typeface="바탕"/>
              </a:rPr>
              <a:t> </a:t>
            </a:r>
            <a:br>
              <a:rPr sz="1400"/>
            </a:br>
            <a:br>
              <a:rPr sz="1400"/>
            </a:br>
            <a:r>
              <a:rPr lang="en-US" sz="1400" b="1" strike="noStrike" spc="-1">
                <a:solidFill>
                  <a:srgbClr val="5983B0"/>
                </a:solidFill>
                <a:latin typeface="Avenir Next LT Pro Light"/>
                <a:ea typeface="바탕"/>
              </a:rPr>
              <a:t>function prim_MST(graph):</a:t>
            </a:r>
            <a:br>
              <a:rPr sz="1400"/>
            </a:br>
            <a:r>
              <a:rPr lang="en-US" sz="1400" b="1" strike="noStrike" spc="-1">
                <a:solidFill>
                  <a:srgbClr val="5983B0"/>
                </a:solidFill>
                <a:latin typeface="Avenir Next LT Pro Light"/>
                <a:ea typeface="바탕"/>
              </a:rPr>
              <a:t>    n = number of vertices in graph</a:t>
            </a:r>
            <a:br>
              <a:rPr sz="1400"/>
            </a:br>
            <a:r>
              <a:rPr lang="en-US" sz="1400" b="1" strike="noStrike" spc="-1">
                <a:solidFill>
                  <a:srgbClr val="5983B0"/>
                </a:solidFill>
                <a:latin typeface="Avenir Next LT Pro Light"/>
                <a:ea typeface="바탕"/>
              </a:rPr>
              <a:t>    key[n] = {∞}</a:t>
            </a:r>
            <a:br>
              <a:rPr sz="1400"/>
            </a:br>
            <a:r>
              <a:rPr lang="en-US" sz="1400" b="1" strike="noStrike" spc="-1">
                <a:solidFill>
                  <a:srgbClr val="5983B0"/>
                </a:solidFill>
                <a:latin typeface="Avenir Next LT Pro Light"/>
                <a:ea typeface="바탕"/>
              </a:rPr>
              <a:t>    parent[n] = {-1}</a:t>
            </a:r>
            <a:br>
              <a:rPr sz="1400"/>
            </a:br>
            <a:r>
              <a:rPr lang="en-US" sz="1400" b="1" strike="noStrike" spc="-1">
                <a:solidFill>
                  <a:srgbClr val="5983B0"/>
                </a:solidFill>
                <a:latin typeface="Avenir Next LT Pro Light"/>
                <a:ea typeface="바탕"/>
              </a:rPr>
              <a:t>    mst_set[n] = {false}</a:t>
            </a:r>
            <a:br>
              <a:rPr sz="1400"/>
            </a:br>
            <a:br>
              <a:rPr sz="1400"/>
            </a:br>
            <a:r>
              <a:rPr lang="en-US" sz="1400" b="1" strike="noStrike" spc="-1">
                <a:solidFill>
                  <a:srgbClr val="5983B0"/>
                </a:solidFill>
                <a:latin typeface="Avenir Next LT Pro Light"/>
                <a:ea typeface="바탕"/>
              </a:rPr>
              <a:t>    key[0] = 0</a:t>
            </a:r>
            <a:br>
              <a:rPr sz="1400"/>
            </a:br>
            <a:br>
              <a:rPr sz="1400"/>
            </a:br>
            <a:r>
              <a:rPr lang="en-US" sz="1400" b="1" strike="noStrike" spc="-1">
                <a:solidFill>
                  <a:srgbClr val="5983B0"/>
                </a:solidFill>
                <a:latin typeface="Avenir Next LT Pro Light"/>
                <a:ea typeface="바탕"/>
              </a:rPr>
              <a:t>    </a:t>
            </a:r>
            <a:r>
              <a:rPr lang="en-US" sz="1400" b="1" strike="noStrike" spc="-1">
                <a:solidFill>
                  <a:srgbClr val="3465A4"/>
                </a:solidFill>
                <a:latin typeface="Avenir Next LT Pro Light"/>
                <a:ea typeface="바탕"/>
              </a:rPr>
              <a:t>for count from 0 to n - 1:</a:t>
            </a:r>
            <a:br>
              <a:rPr sz="1400"/>
            </a:br>
            <a:r>
              <a:rPr lang="en-US" sz="1400" b="1" strike="noStrike" spc="-1">
                <a:solidFill>
                  <a:srgbClr val="3465A4"/>
                </a:solidFill>
                <a:latin typeface="Avenir Next LT Pro Light"/>
                <a:ea typeface="바탕"/>
              </a:rPr>
              <a:t>        u = get_min(n, mst_set, key);</a:t>
            </a:r>
            <a:br>
              <a:rPr sz="1400"/>
            </a:br>
            <a:r>
              <a:rPr lang="en-US" sz="1400" b="1" strike="noStrike" spc="-1">
                <a:solidFill>
                  <a:srgbClr val="3465A4"/>
                </a:solidFill>
                <a:latin typeface="Avenir Next LT Pro Light"/>
                <a:ea typeface="바탕"/>
              </a:rPr>
              <a:t>        mst_set[u] = true</a:t>
            </a:r>
            <a:br>
              <a:rPr sz="1400"/>
            </a:br>
            <a:br>
              <a:rPr sz="1400"/>
            </a:br>
            <a:r>
              <a:rPr lang="en-US" sz="1400" b="1" strike="noStrike" spc="-1">
                <a:solidFill>
                  <a:srgbClr val="383D3C"/>
                </a:solidFill>
                <a:latin typeface="Avenir Next LT Pro Light"/>
                <a:ea typeface="바탕"/>
              </a:rPr>
              <a:t>        </a:t>
            </a:r>
            <a:r>
              <a:rPr lang="en-US" sz="1400" b="1" strike="noStrike" spc="-1">
                <a:solidFill>
                  <a:srgbClr val="355269"/>
                </a:solidFill>
                <a:latin typeface="Avenir Next LT Pro Light"/>
                <a:ea typeface="바탕"/>
              </a:rPr>
              <a:t>for each v adjacent to u:</a:t>
            </a:r>
            <a:br>
              <a:rPr sz="1400"/>
            </a:br>
            <a:r>
              <a:rPr lang="en-US" sz="1400" b="1" strike="noStrike" spc="-1">
                <a:solidFill>
                  <a:srgbClr val="355269"/>
                </a:solidFill>
                <a:latin typeface="Avenir Next LT Pro Light"/>
                <a:ea typeface="바탕"/>
              </a:rPr>
              <a:t>            if graph[u][v] != 0 and mst_set[v] == false and graph[u][v] &lt; key[v]:</a:t>
            </a:r>
            <a:br>
              <a:rPr sz="1400"/>
            </a:br>
            <a:r>
              <a:rPr lang="en-US" sz="1400" b="1" strike="noStrike" spc="-1">
                <a:solidFill>
                  <a:srgbClr val="355269"/>
                </a:solidFill>
                <a:latin typeface="Avenir Next LT Pro Light"/>
                <a:ea typeface="바탕"/>
              </a:rPr>
              <a:t>                parent[v] = u</a:t>
            </a:r>
            <a:br>
              <a:rPr sz="1400"/>
            </a:br>
            <a:r>
              <a:rPr lang="en-US" sz="1400" b="1" strike="noStrike" spc="-1">
                <a:solidFill>
                  <a:srgbClr val="355269"/>
                </a:solidFill>
                <a:latin typeface="Avenir Next LT Pro Light"/>
                <a:ea typeface="바탕"/>
              </a:rPr>
              <a:t>                key[v] = graph[u][v]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5257800" y="914400"/>
            <a:ext cx="6400440" cy="188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latin typeface="Arial"/>
              </a:rPr>
              <a:t>→Implementarea serială abordată are complexitatea O(N^2), unde N este numarul de noduri din graf.</a:t>
            </a:r>
          </a:p>
          <a:p>
            <a:pPr>
              <a:lnSpc>
                <a:spcPct val="100000"/>
              </a:lnSpc>
              <a:buNone/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latin typeface="Arial"/>
              </a:rPr>
              <a:t>→ Punctele critice din execuție ce reies după analiza profiling-ului făcut se află în for-urile interne celui principal din funcția prim_MST(), după cum era de așteptat.</a:t>
            </a:r>
          </a:p>
          <a:p>
            <a:pPr>
              <a:lnSpc>
                <a:spcPct val="100000"/>
              </a:lnSpc>
              <a:buNone/>
            </a:pPr>
            <a:endParaRPr lang="en-US" sz="1800" b="0" strike="noStrike" spc="-1">
              <a:latin typeface="Arial"/>
            </a:endParaRPr>
          </a:p>
        </p:txBody>
      </p:sp>
      <p:pic>
        <p:nvPicPr>
          <p:cNvPr id="109" name="Picture 108"/>
          <p:cNvPicPr/>
          <p:nvPr/>
        </p:nvPicPr>
        <p:blipFill>
          <a:blip r:embed="rId2"/>
          <a:stretch/>
        </p:blipFill>
        <p:spPr>
          <a:xfrm>
            <a:off x="4572000" y="2743200"/>
            <a:ext cx="3666240" cy="841320"/>
          </a:xfrm>
          <a:prstGeom prst="rect">
            <a:avLst/>
          </a:prstGeom>
          <a:ln w="0">
            <a:noFill/>
          </a:ln>
        </p:spPr>
      </p:pic>
      <p:pic>
        <p:nvPicPr>
          <p:cNvPr id="110" name="Picture 109"/>
          <p:cNvPicPr/>
          <p:nvPr/>
        </p:nvPicPr>
        <p:blipFill>
          <a:blip r:embed="rId3"/>
          <a:stretch/>
        </p:blipFill>
        <p:spPr>
          <a:xfrm>
            <a:off x="5943600" y="3584880"/>
            <a:ext cx="5486040" cy="1141920"/>
          </a:xfrm>
          <a:prstGeom prst="rect">
            <a:avLst/>
          </a:prstGeom>
          <a:ln w="0">
            <a:noFill/>
          </a:ln>
        </p:spPr>
      </p:pic>
      <p:pic>
        <p:nvPicPr>
          <p:cNvPr id="111" name="Picture 110"/>
          <p:cNvPicPr/>
          <p:nvPr/>
        </p:nvPicPr>
        <p:blipFill>
          <a:blip r:embed="rId4"/>
          <a:stretch/>
        </p:blipFill>
        <p:spPr>
          <a:xfrm>
            <a:off x="3657600" y="5486400"/>
            <a:ext cx="7314840" cy="965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23"/>
          <p:cNvSpPr/>
          <p:nvPr/>
        </p:nvSpPr>
        <p:spPr>
          <a:xfrm>
            <a:off x="-6480" y="0"/>
            <a:ext cx="12198240" cy="685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91040" y="851760"/>
            <a:ext cx="3272040" cy="518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000" b="1" strike="noStrike" spc="-100">
                <a:solidFill>
                  <a:srgbClr val="000000"/>
                </a:solidFill>
                <a:latin typeface="바탕"/>
                <a:ea typeface="바탕"/>
              </a:rPr>
              <a:t>Motivarea necesității paralelizării</a:t>
            </a:r>
            <a:br>
              <a:rPr sz="4000"/>
            </a:br>
            <a:endParaRPr lang="en-US" sz="4000" b="0" strike="noStrike" spc="-1">
              <a:latin typeface="Arial"/>
            </a:endParaRPr>
          </a:p>
        </p:txBody>
      </p:sp>
      <p:sp>
        <p:nvSpPr>
          <p:cNvPr id="114" name="Straight Connector 25"/>
          <p:cNvSpPr/>
          <p:nvPr/>
        </p:nvSpPr>
        <p:spPr>
          <a:xfrm flipH="1">
            <a:off x="571320" y="571320"/>
            <a:ext cx="1105452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15" name="Picture 14"/>
          <p:cNvPicPr/>
          <p:nvPr/>
        </p:nvPicPr>
        <p:blipFill>
          <a:blip r:embed="rId2"/>
          <a:stretch/>
        </p:blipFill>
        <p:spPr>
          <a:xfrm>
            <a:off x="3886200" y="600300"/>
            <a:ext cx="3657240" cy="2715480"/>
          </a:xfrm>
          <a:prstGeom prst="rect">
            <a:avLst/>
          </a:prstGeom>
          <a:ln w="0">
            <a:noFill/>
          </a:ln>
        </p:spPr>
      </p:pic>
      <p:pic>
        <p:nvPicPr>
          <p:cNvPr id="116" name="Picture 18"/>
          <p:cNvPicPr/>
          <p:nvPr/>
        </p:nvPicPr>
        <p:blipFill>
          <a:blip r:embed="rId3"/>
          <a:stretch/>
        </p:blipFill>
        <p:spPr>
          <a:xfrm>
            <a:off x="3886200" y="3543300"/>
            <a:ext cx="3656160" cy="2714400"/>
          </a:xfrm>
          <a:prstGeom prst="rect">
            <a:avLst/>
          </a:prstGeom>
          <a:ln w="0">
            <a:noFill/>
          </a:ln>
        </p:spPr>
      </p:pic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7809840" y="800280"/>
            <a:ext cx="4114440" cy="5486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rmAutofit lnSpcReduction="10000"/>
          </a:bodyPr>
          <a:lstStyle/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500" b="1" strike="noStrike" spc="-1" dirty="0" err="1">
                <a:solidFill>
                  <a:srgbClr val="000000"/>
                </a:solidFill>
                <a:latin typeface="Avenir Next LT Pro Light (Body)"/>
              </a:rPr>
              <a:t>Probleme</a:t>
            </a:r>
            <a:r>
              <a:rPr lang="en-US" sz="1500" b="1" strike="noStrike" spc="-1" dirty="0">
                <a:solidFill>
                  <a:srgbClr val="000000"/>
                </a:solidFill>
                <a:latin typeface="Avenir Next LT Pro Light (Body)"/>
              </a:rPr>
              <a:t> cu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venir Next LT Pro Light (Body)"/>
              </a:rPr>
              <a:t>execuția</a:t>
            </a:r>
            <a:r>
              <a:rPr lang="en-US" sz="1500" b="1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venir Next LT Pro Light (Body)"/>
              </a:rPr>
              <a:t>secvențială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Profiling-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ul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indică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utilizare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redusă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a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resurselor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procesare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:</a:t>
            </a:r>
            <a:endParaRPr lang="en-US" sz="1500" b="0" strike="noStrike" spc="-1" dirty="0">
              <a:latin typeface="Arial"/>
            </a:endParaRPr>
          </a:p>
          <a:p>
            <a:pPr marL="457200" lvl="1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venir Next LT Pro Light"/>
              <a:buChar char="•"/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Logical Core Utilization: ~2.2%</a:t>
            </a:r>
            <a:endParaRPr lang="en-US" sz="1500" b="0" strike="noStrike" spc="-1" dirty="0">
              <a:latin typeface="Arial"/>
            </a:endParaRPr>
          </a:p>
          <a:p>
            <a:pPr marL="457200" lvl="1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venir Next LT Pro Light"/>
              <a:buChar char="•"/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Physical Core Utilization: ~4.3%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Timp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mare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execuție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pentru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grafuri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mari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(de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exemplu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, 150.000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noduri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).</a:t>
            </a:r>
            <a:endParaRPr lang="en-US" sz="15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500" b="1" strike="noStrike" spc="-1" dirty="0" err="1">
                <a:solidFill>
                  <a:srgbClr val="000000"/>
                </a:solidFill>
                <a:latin typeface="Avenir Next LT Pro Light (Body)"/>
              </a:rPr>
              <a:t>Posibilitatea</a:t>
            </a:r>
            <a:r>
              <a:rPr lang="en-US" sz="1500" b="1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venir Next LT Pro Light (Body)"/>
              </a:rPr>
              <a:t>paralelizării</a:t>
            </a:r>
            <a:endParaRPr lang="en-US" sz="15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Conform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celor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observate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în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profiling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regiunile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evidențiate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pot fi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paralelizate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.</a:t>
            </a:r>
            <a:endParaRPr lang="en-US" sz="15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15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500" b="1" strike="noStrike" spc="-1" dirty="0" err="1">
                <a:solidFill>
                  <a:srgbClr val="000000"/>
                </a:solidFill>
                <a:latin typeface="Avenir Next LT Pro Light (Body)"/>
              </a:rPr>
              <a:t>Efecte</a:t>
            </a:r>
            <a:r>
              <a:rPr lang="en-US" sz="1500" b="1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venir Next LT Pro Light (Body)"/>
              </a:rPr>
              <a:t>dorite</a:t>
            </a:r>
            <a:r>
              <a:rPr lang="en-US" sz="1500" b="1" strike="noStrike" spc="-1" dirty="0">
                <a:solidFill>
                  <a:srgbClr val="000000"/>
                </a:solidFill>
                <a:latin typeface="Avenir Next LT Pro Light (Body)"/>
              </a:rPr>
              <a:t> ale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venir Next LT Pro Light (Body)"/>
              </a:rPr>
              <a:t>paralelizării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Reducerea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timpului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total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execuție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.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Creșterea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utilizării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resurselor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hardware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disponibile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.</a:t>
            </a:r>
            <a:endParaRPr lang="en-US" sz="1500" b="0" strike="noStrike" spc="-1" dirty="0">
              <a:latin typeface="Arial"/>
            </a:endParaRPr>
          </a:p>
        </p:txBody>
      </p:sp>
      <p:sp>
        <p:nvSpPr>
          <p:cNvPr id="118" name="Straight Connector 27"/>
          <p:cNvSpPr/>
          <p:nvPr/>
        </p:nvSpPr>
        <p:spPr>
          <a:xfrm flipH="1">
            <a:off x="571320" y="6286320"/>
            <a:ext cx="1105488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27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21280" y="786240"/>
            <a:ext cx="3508560" cy="2007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000" b="1" strike="noStrike" spc="-100">
                <a:solidFill>
                  <a:srgbClr val="000000"/>
                </a:solidFill>
                <a:latin typeface="바탕"/>
                <a:ea typeface="바탕"/>
              </a:rPr>
              <a:t>OpenMP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21" name="Straight Connector 29"/>
          <p:cNvSpPr/>
          <p:nvPr/>
        </p:nvSpPr>
        <p:spPr>
          <a:xfrm flipH="1">
            <a:off x="568440" y="576000"/>
            <a:ext cx="1105488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461124" y="1695213"/>
            <a:ext cx="3276000" cy="468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rmAutofit/>
          </a:bodyPr>
          <a:lstStyle/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Paralelizare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prin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împ</a:t>
            </a:r>
            <a:r>
              <a:rPr lang="ro-RO" sz="1400" b="0" strike="noStrike" spc="-1" dirty="0">
                <a:solidFill>
                  <a:srgbClr val="000000"/>
                </a:solidFill>
                <a:latin typeface="Avenir Next LT Pro Light (Body)"/>
              </a:rPr>
              <a:t>ăr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țirea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iterațiilor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for </a:t>
            </a:r>
            <a:endParaRPr lang="en-US" sz="14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Utilizarea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secțiunilor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critical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pentru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sincronizare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în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cadrul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funcției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get_min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().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Fiecare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thread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calculeaza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un minim local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pentru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nodurile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pe care le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procesează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,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apoi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aceste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minime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sunt combinate (#pragma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omp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critical)</a:t>
            </a:r>
            <a:endParaRPr lang="en-US" sz="14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Rezultate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:</a:t>
            </a:r>
            <a:endParaRPr lang="en-US" sz="1400" b="0" strike="noStrike" spc="-1" dirty="0">
              <a:latin typeface="Arial"/>
            </a:endParaRPr>
          </a:p>
          <a:p>
            <a:pPr marL="457200" lvl="1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venir Next LT Pro Light"/>
              <a:buChar char="•"/>
            </a:pP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Speedup bun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pentru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grafuri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mari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.</a:t>
            </a:r>
            <a:endParaRPr lang="en-US" sz="1400" b="0" strike="noStrike" spc="-1" dirty="0">
              <a:latin typeface="Arial"/>
            </a:endParaRPr>
          </a:p>
          <a:p>
            <a:pPr marL="457200" lvl="1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venir Next LT Pro Light"/>
              <a:buChar char="•"/>
            </a:pP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Timp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minim de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execuție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la 16 thread-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uri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(~40 s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pentru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graful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 5, serial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venir Next LT Pro Light (Body)"/>
              </a:rPr>
              <a:t>obtinându</a:t>
            </a:r>
            <a:r>
              <a:rPr lang="en-US" sz="1400" b="0" strike="noStrike" spc="-1" dirty="0">
                <a:solidFill>
                  <a:srgbClr val="000000"/>
                </a:solidFill>
                <a:latin typeface="Avenir Next LT Pro Light (Body)"/>
              </a:rPr>
              <a:t>-se ~178 s).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1400" b="0" strike="noStrike" spc="-1" dirty="0">
              <a:latin typeface="Arial"/>
            </a:endParaRPr>
          </a:p>
        </p:txBody>
      </p:sp>
      <p:sp>
        <p:nvSpPr>
          <p:cNvPr id="123" name="Straight Connector 31"/>
          <p:cNvSpPr/>
          <p:nvPr/>
        </p:nvSpPr>
        <p:spPr>
          <a:xfrm>
            <a:off x="4419360" y="588240"/>
            <a:ext cx="360" cy="56980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4" name="Straight Connector 33"/>
          <p:cNvSpPr/>
          <p:nvPr/>
        </p:nvSpPr>
        <p:spPr>
          <a:xfrm flipH="1">
            <a:off x="571320" y="6286320"/>
            <a:ext cx="1105488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5" name="Rectangle 3"/>
          <p:cNvSpPr/>
          <p:nvPr/>
        </p:nvSpPr>
        <p:spPr>
          <a:xfrm>
            <a:off x="5101956" y="1026486"/>
            <a:ext cx="5062248" cy="53759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b">
            <a:normAutofit fontScale="66000" lnSpcReduction="20000"/>
          </a:bodyPr>
          <a:lstStyle/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function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get_min</a:t>
            </a: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(n,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mst_set</a:t>
            </a: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, key):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   Min = ∞,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idx</a:t>
            </a: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= -1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   #pragma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omp</a:t>
            </a: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parallel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  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local_min</a:t>
            </a: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= ∞,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local_idx</a:t>
            </a: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= -1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   # Find local minimum in parallel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   #pragma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omp</a:t>
            </a: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for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nowait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   for v from 0 to n - 1: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       if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mst_set</a:t>
            </a: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[v] == false and key[v] &lt;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local_min</a:t>
            </a: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: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          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local_min</a:t>
            </a: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= key[v],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local_idx</a:t>
            </a: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= v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   #pragma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omp</a:t>
            </a: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critical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   if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local_min</a:t>
            </a: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&lt; min: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       min =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local_min</a:t>
            </a: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,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idx</a:t>
            </a: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=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local_idx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780373"/>
                </a:solidFill>
                <a:latin typeface="Avenir Next LT Pro Light (Body)"/>
              </a:rPr>
              <a:t>    return </a:t>
            </a:r>
            <a:r>
              <a:rPr lang="en-US" sz="1400" b="1" strike="noStrike" spc="-1" dirty="0" err="1">
                <a:solidFill>
                  <a:srgbClr val="780373"/>
                </a:solidFill>
                <a:latin typeface="Avenir Next LT Pro Light (Body)"/>
              </a:rPr>
              <a:t>idx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355269"/>
                </a:solidFill>
                <a:latin typeface="Avenir Next LT Pro Light (Body)"/>
              </a:rPr>
              <a:t>function </a:t>
            </a:r>
            <a:r>
              <a:rPr lang="en-US" sz="1400" b="1" strike="noStrike" spc="-1" dirty="0" err="1">
                <a:solidFill>
                  <a:srgbClr val="355269"/>
                </a:solidFill>
                <a:latin typeface="Avenir Next LT Pro Light (Body)"/>
              </a:rPr>
              <a:t>prim_MST</a:t>
            </a:r>
            <a:r>
              <a:rPr lang="en-US" sz="1400" b="1" strike="noStrike" spc="-1" dirty="0">
                <a:solidFill>
                  <a:srgbClr val="355269"/>
                </a:solidFill>
                <a:latin typeface="Avenir Next LT Pro Light (Body)"/>
              </a:rPr>
              <a:t>(graph):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355269"/>
                </a:solidFill>
                <a:latin typeface="Avenir Next LT Pro Light (Body)"/>
              </a:rPr>
              <a:t>    for count from 0 to n - 1: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355269"/>
                </a:solidFill>
                <a:latin typeface="Avenir Next LT Pro Light (Body)"/>
              </a:rPr>
              <a:t>        ...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355269"/>
                </a:solidFill>
                <a:latin typeface="Avenir Next LT Pro Light (Body)"/>
              </a:rPr>
              <a:t>        #pragma </a:t>
            </a:r>
            <a:r>
              <a:rPr lang="en-US" sz="1400" b="1" strike="noStrike" spc="-1" dirty="0" err="1">
                <a:solidFill>
                  <a:srgbClr val="355269"/>
                </a:solidFill>
                <a:latin typeface="Avenir Next LT Pro Light (Body)"/>
              </a:rPr>
              <a:t>omp</a:t>
            </a:r>
            <a:r>
              <a:rPr lang="en-US" sz="1400" b="1" strike="noStrike" spc="-1" dirty="0">
                <a:solidFill>
                  <a:srgbClr val="355269"/>
                </a:solidFill>
                <a:latin typeface="Avenir Next LT Pro Light (Body)"/>
              </a:rPr>
              <a:t> parallel for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355269"/>
                </a:solidFill>
                <a:latin typeface="Avenir Next LT Pro Light (Body)"/>
              </a:rPr>
              <a:t>        for each v adjacent to u: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355269"/>
                </a:solidFill>
                <a:latin typeface="Avenir Next LT Pro Light (Body)"/>
              </a:rPr>
              <a:t>            if graph[u][v] != 0 and </a:t>
            </a:r>
            <a:r>
              <a:rPr lang="en-US" sz="1400" b="1" strike="noStrike" spc="-1" dirty="0" err="1">
                <a:solidFill>
                  <a:srgbClr val="355269"/>
                </a:solidFill>
                <a:latin typeface="Avenir Next LT Pro Light (Body)"/>
              </a:rPr>
              <a:t>mst_set</a:t>
            </a:r>
            <a:r>
              <a:rPr lang="en-US" sz="1400" b="1" strike="noStrike" spc="-1" dirty="0">
                <a:solidFill>
                  <a:srgbClr val="355269"/>
                </a:solidFill>
                <a:latin typeface="Avenir Next LT Pro Light (Body)"/>
              </a:rPr>
              <a:t>[v] == false and graph[u][v] &lt; key[v]: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355269"/>
                </a:solidFill>
                <a:latin typeface="Avenir Next LT Pro Light (Body)"/>
              </a:rPr>
              <a:t>                key[v] = graph[u][v]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r>
              <a:rPr lang="en-US" sz="1400" b="1" strike="noStrike" spc="-1" dirty="0">
                <a:solidFill>
                  <a:srgbClr val="355269"/>
                </a:solidFill>
                <a:latin typeface="Avenir Next LT Pro Light (Body)"/>
              </a:rPr>
              <a:t>                parent[v] = u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1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" descr="A graph with different colored lines&#10;&#10;Description automatically generated"/>
          <p:cNvPicPr/>
          <p:nvPr/>
        </p:nvPicPr>
        <p:blipFill>
          <a:blip r:embed="rId2"/>
          <a:stretch/>
        </p:blipFill>
        <p:spPr>
          <a:xfrm>
            <a:off x="1828800" y="440280"/>
            <a:ext cx="8000640" cy="5960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9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21280" y="786240"/>
            <a:ext cx="3508560" cy="2007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ro-RO" sz="4000" b="1" strike="noStrike" spc="-100">
                <a:solidFill>
                  <a:srgbClr val="000000"/>
                </a:solidFill>
                <a:latin typeface="바탕"/>
                <a:ea typeface="바탕"/>
              </a:rPr>
              <a:t>Pthreads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29" name="Straight Connector 11"/>
          <p:cNvSpPr/>
          <p:nvPr/>
        </p:nvSpPr>
        <p:spPr>
          <a:xfrm flipH="1">
            <a:off x="568440" y="576000"/>
            <a:ext cx="1105488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21280" y="1600200"/>
            <a:ext cx="3276000" cy="457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1500" b="0" strike="noStrike" spc="-1">
                <a:solidFill>
                  <a:srgbClr val="000000"/>
                </a:solidFill>
                <a:latin typeface="Avenir Next LT Pro Light (Body)"/>
              </a:rPr>
              <a:t>Thread-uri independente sincronizate prin mutex-uri.</a:t>
            </a:r>
            <a:endParaRPr lang="en-US" sz="1500" b="0" strike="noStrike" spc="-1">
              <a:latin typeface="Arial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1500" b="0" strike="noStrike" spc="-1">
                <a:solidFill>
                  <a:srgbClr val="000000"/>
                </a:solidFill>
                <a:latin typeface="Avenir Next LT Pro Light (Body)"/>
              </a:rPr>
              <a:t>Minimul local calculat și sincronizat cu minimul global.</a:t>
            </a:r>
            <a:endParaRPr lang="en-US" sz="1500" b="0" strike="noStrike" spc="-1">
              <a:latin typeface="Arial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1500" b="0" strike="noStrike" spc="-1">
                <a:solidFill>
                  <a:srgbClr val="000000"/>
                </a:solidFill>
                <a:latin typeface="Avenir Next LT Pro Light (Body)"/>
              </a:rPr>
              <a:t>Performanță mai redusă comparativ cu OpenMP din cauza overhead-ului rezultat în urma creării thread-urilor.</a:t>
            </a:r>
            <a:endParaRPr lang="en-US" sz="1500" b="0" strike="noStrike" spc="-1">
              <a:latin typeface="Arial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1500" b="0" strike="noStrike" spc="-1">
                <a:solidFill>
                  <a:srgbClr val="000000"/>
                </a:solidFill>
                <a:latin typeface="Avenir Next LT Pro Light (Body)"/>
              </a:rPr>
              <a:t>Paralelizare doar funcția get_min(). Dacă se paralelizează și for-ul intern din cadrul funcției prim_MST() se obțin timpi mai mari adăugând și mai mult overhead.  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500" b="0" strike="noStrike" spc="-1">
              <a:latin typeface="Arial"/>
            </a:endParaRPr>
          </a:p>
        </p:txBody>
      </p:sp>
      <p:sp>
        <p:nvSpPr>
          <p:cNvPr id="131" name="Straight Connector 13"/>
          <p:cNvSpPr/>
          <p:nvPr/>
        </p:nvSpPr>
        <p:spPr>
          <a:xfrm>
            <a:off x="4419360" y="588240"/>
            <a:ext cx="360" cy="56980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2" name="Straight Connector 15"/>
          <p:cNvSpPr/>
          <p:nvPr/>
        </p:nvSpPr>
        <p:spPr>
          <a:xfrm flipH="1">
            <a:off x="571320" y="6286320"/>
            <a:ext cx="1105488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3" name="TextBox 132"/>
          <p:cNvSpPr txBox="1"/>
          <p:nvPr/>
        </p:nvSpPr>
        <p:spPr>
          <a:xfrm>
            <a:off x="5016240" y="971640"/>
            <a:ext cx="6185160" cy="4971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function get_min(key, mstSet, nr_vertices, num_threads):</a:t>
            </a: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initialize global_min = ∞</a:t>
            </a: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initialize global_min_index = -1</a:t>
            </a: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initialize mutex for synchronization</a:t>
            </a:r>
          </a:p>
          <a:p>
            <a:endParaRPr lang="en-US" sz="1600" b="1" strike="noStrike" spc="-1">
              <a:solidFill>
                <a:srgbClr val="5B277D"/>
              </a:solidFill>
              <a:latin typeface="Arial"/>
            </a:endParaRP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for each thread in num_threads:</a:t>
            </a: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    eval start and end indices for the thread</a:t>
            </a: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    execute in parallel: (call another function)</a:t>
            </a: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        local_min = ∞</a:t>
            </a: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        local_min_index = -1</a:t>
            </a: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        for v from start to end:</a:t>
            </a: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            if mstSet[v] == false and key[v] &lt; local_min:</a:t>
            </a: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                local_min = key[v]</a:t>
            </a: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                local_min_index = v</a:t>
            </a: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        lock(mutex)</a:t>
            </a: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        if local_min &lt; global_min:</a:t>
            </a: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            global_min = local_min</a:t>
            </a: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            global_min_index = local_min_index</a:t>
            </a: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        unlock(mutex)</a:t>
            </a:r>
          </a:p>
          <a:p>
            <a:endParaRPr lang="en-US" sz="1600" b="1" strike="noStrike" spc="-1">
              <a:solidFill>
                <a:srgbClr val="5B277D"/>
              </a:solidFill>
              <a:latin typeface="Arial"/>
            </a:endParaRPr>
          </a:p>
          <a:p>
            <a:r>
              <a:rPr lang="en-US" sz="1600" b="1" strike="noStrike" spc="-1">
                <a:solidFill>
                  <a:srgbClr val="5B277D"/>
                </a:solidFill>
                <a:latin typeface="Arial"/>
              </a:rPr>
              <a:t>    return global_min_index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5029200" y="685800"/>
            <a:ext cx="5257440" cy="56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b">
            <a:normAutofit/>
          </a:bodyPr>
          <a:lstStyle/>
          <a:p>
            <a:pPr>
              <a:lnSpc>
                <a:spcPct val="110000"/>
              </a:lnSpc>
              <a:spcAft>
                <a:spcPts val="601"/>
              </a:spcAft>
              <a:buNone/>
            </a:pPr>
            <a:endParaRPr lang="en-US" sz="1400" b="0" strike="noStrike" spc="-1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endParaRPr lang="en-US" sz="1400" b="0" strike="noStrike" spc="-1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1400" b="0" strike="noStrike" spc="-1">
              <a:latin typeface="Arial"/>
            </a:endParaRPr>
          </a:p>
        </p:txBody>
      </p:sp>
      <p:pic>
        <p:nvPicPr>
          <p:cNvPr id="135" name="Picture 2" descr="A graph with colorful lines and arrows&#10;&#10;Description automatically generated"/>
          <p:cNvPicPr/>
          <p:nvPr/>
        </p:nvPicPr>
        <p:blipFill>
          <a:blip r:embed="rId2"/>
          <a:stretch/>
        </p:blipFill>
        <p:spPr>
          <a:xfrm>
            <a:off x="1774080" y="379440"/>
            <a:ext cx="8055720" cy="6021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7E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21280" y="786240"/>
            <a:ext cx="3508560" cy="81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ro-RO" sz="4000" b="1" strike="noStrike" spc="-100">
                <a:solidFill>
                  <a:srgbClr val="000000"/>
                </a:solidFill>
                <a:latin typeface="바탕"/>
                <a:ea typeface="바탕"/>
              </a:rPr>
              <a:t>MPI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37" name="Straight Connector 12"/>
          <p:cNvSpPr/>
          <p:nvPr/>
        </p:nvSpPr>
        <p:spPr>
          <a:xfrm flipH="1">
            <a:off x="568440" y="576000"/>
            <a:ext cx="1105488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0" y="1810080"/>
            <a:ext cx="4343400" cy="468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rmAutofit fontScale="79000" lnSpcReduction="20000"/>
          </a:bodyPr>
          <a:lstStyle/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Procesul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MASTER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citește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graful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din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fișier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după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care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distribuite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worker-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ilor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numărul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noduri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.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Apoi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MASTER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găsește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nodul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cu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cea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mai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mică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valoare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a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cheii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care nu a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fost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vizitat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,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marcheaza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nodul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ca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vizitat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și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adaugă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costul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său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la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costul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total al MST.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MASTER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împarte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lista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vecini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ai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nodului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găsit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în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porțiuni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egale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către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WORKERI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WORKERII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primesc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porțiunea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alocată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și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calculează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local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dacă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un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vecin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are un cost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mai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mic care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trebuie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actualizat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.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Dacă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se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găsește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un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vecin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care nu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este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vizitat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și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greutatea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muchiei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este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mai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mica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decât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cea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precedentă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,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își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actualizează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local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structurile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de date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și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trimite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actualizările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spre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MASTER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MASTER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actualizează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structurile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de date (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distanțele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și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parinții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pe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baza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valorilor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primite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)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Se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repetă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până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când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toate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nodurile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sunt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incluse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în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MST,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după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care MASTER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trimite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un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semnal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 de stop worker-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venir Next LT Pro Light (Body)"/>
              </a:rPr>
              <a:t>ilor</a:t>
            </a:r>
            <a:r>
              <a:rPr lang="en-US" sz="1500" b="0" strike="noStrike" spc="-1" dirty="0">
                <a:solidFill>
                  <a:srgbClr val="000000"/>
                </a:solidFill>
                <a:latin typeface="Avenir Next LT Pro Light (Body)"/>
              </a:rPr>
              <a:t>.</a:t>
            </a:r>
            <a:endParaRPr lang="en-US" sz="15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39" name="Straight Connector 14"/>
          <p:cNvSpPr/>
          <p:nvPr/>
        </p:nvSpPr>
        <p:spPr>
          <a:xfrm>
            <a:off x="4419360" y="588240"/>
            <a:ext cx="360" cy="56980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0" name="Straight Connector 16"/>
          <p:cNvSpPr/>
          <p:nvPr/>
        </p:nvSpPr>
        <p:spPr>
          <a:xfrm flipH="1">
            <a:off x="571320" y="6286320"/>
            <a:ext cx="1105488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1" name="TextBox 140"/>
          <p:cNvSpPr txBox="1"/>
          <p:nvPr/>
        </p:nvSpPr>
        <p:spPr>
          <a:xfrm>
            <a:off x="4419360" y="1371600"/>
            <a:ext cx="3586680" cy="4233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function </a:t>
            </a:r>
            <a:r>
              <a:rPr lang="en-US" sz="1050" b="1" strike="noStrike" spc="-1" dirty="0" err="1">
                <a:solidFill>
                  <a:srgbClr val="5B277D"/>
                </a:solidFill>
                <a:latin typeface="Arial"/>
              </a:rPr>
              <a:t>prim_MST_MPI</a:t>
            </a:r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(graph):</a:t>
            </a: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N = number of vertices</a:t>
            </a: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rank = rank of current process</a:t>
            </a: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size = total number of processes</a:t>
            </a:r>
          </a:p>
          <a:p>
            <a:endParaRPr lang="en-US" sz="1050" b="1" strike="noStrike" spc="-1" dirty="0">
              <a:solidFill>
                <a:srgbClr val="5B277D"/>
              </a:solidFill>
              <a:latin typeface="Arial"/>
            </a:endParaRP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if rank == MASTER:</a:t>
            </a: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    </a:t>
            </a:r>
            <a:r>
              <a:rPr lang="en-US" sz="1050" b="1" strike="noStrike" spc="-1" dirty="0" err="1">
                <a:solidFill>
                  <a:srgbClr val="5B277D"/>
                </a:solidFill>
                <a:latin typeface="Arial"/>
              </a:rPr>
              <a:t>read_graph</a:t>
            </a:r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()</a:t>
            </a: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    broadcast N to all processes</a:t>
            </a: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    </a:t>
            </a:r>
            <a:r>
              <a:rPr lang="en-US" sz="1050" b="1" strike="noStrike" spc="-1" dirty="0" err="1">
                <a:solidFill>
                  <a:srgbClr val="5B277D"/>
                </a:solidFill>
                <a:latin typeface="Arial"/>
              </a:rPr>
              <a:t>dist</a:t>
            </a:r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[] = {∞}, parent[] = {-1}, visited[] = {false}</a:t>
            </a: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    </a:t>
            </a:r>
            <a:r>
              <a:rPr lang="en-US" sz="1050" b="1" strike="noStrike" spc="-1" dirty="0" err="1">
                <a:solidFill>
                  <a:srgbClr val="5B277D"/>
                </a:solidFill>
                <a:latin typeface="Arial"/>
              </a:rPr>
              <a:t>dist</a:t>
            </a:r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[0] = 0</a:t>
            </a: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    </a:t>
            </a:r>
            <a:r>
              <a:rPr lang="en-US" sz="1050" b="1" strike="noStrike" spc="-1" dirty="0" err="1">
                <a:solidFill>
                  <a:srgbClr val="5B277D"/>
                </a:solidFill>
                <a:latin typeface="Arial"/>
              </a:rPr>
              <a:t>mst_cost</a:t>
            </a:r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= 0</a:t>
            </a:r>
          </a:p>
          <a:p>
            <a:endParaRPr lang="en-US" sz="1050" b="1" strike="noStrike" spc="-1" dirty="0">
              <a:solidFill>
                <a:srgbClr val="5B277D"/>
              </a:solidFill>
              <a:latin typeface="Arial"/>
            </a:endParaRP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else:</a:t>
            </a: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    receive N from MASTER</a:t>
            </a:r>
          </a:p>
          <a:p>
            <a:endParaRPr lang="en-US" sz="1050" b="1" strike="noStrike" spc="-1" dirty="0">
              <a:solidFill>
                <a:srgbClr val="5B277D"/>
              </a:solidFill>
              <a:latin typeface="Arial"/>
            </a:endParaRP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while not all vertices are included in MST:</a:t>
            </a: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    if rank == MASTER:</a:t>
            </a: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        u = vertex with smallest </a:t>
            </a:r>
            <a:r>
              <a:rPr lang="en-US" sz="1050" b="1" strike="noStrike" spc="-1" dirty="0" err="1">
                <a:solidFill>
                  <a:srgbClr val="5B277D"/>
                </a:solidFill>
                <a:latin typeface="Arial"/>
              </a:rPr>
              <a:t>dist</a:t>
            </a:r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[] that is not visited</a:t>
            </a: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        visited[u] = true</a:t>
            </a: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        broadcast u to all processes</a:t>
            </a: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    else:</a:t>
            </a: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        receive u from MASTER</a:t>
            </a:r>
          </a:p>
          <a:p>
            <a:endParaRPr lang="en-US" sz="1050" b="1" strike="noStrike" spc="-1" dirty="0">
              <a:solidFill>
                <a:srgbClr val="5B277D"/>
              </a:solidFill>
              <a:latin typeface="Arial"/>
            </a:endParaRP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    if u == -1:</a:t>
            </a: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        break  // MST is complete</a:t>
            </a:r>
          </a:p>
          <a:p>
            <a:endParaRPr lang="en-US" sz="1050" b="1" strike="noStrike" spc="-1" dirty="0">
              <a:solidFill>
                <a:srgbClr val="5B277D"/>
              </a:solidFill>
              <a:latin typeface="Arial"/>
            </a:endParaRPr>
          </a:p>
          <a:p>
            <a:r>
              <a:rPr lang="en-US" sz="1050" b="1" strike="noStrike" spc="-1" dirty="0">
                <a:solidFill>
                  <a:srgbClr val="5B277D"/>
                </a:solidFill>
                <a:latin typeface="Arial"/>
              </a:rPr>
              <a:t>        </a:t>
            </a:r>
          </a:p>
          <a:p>
            <a:endParaRPr lang="en-US" sz="1050" b="1" strike="noStrike" spc="-1" dirty="0">
              <a:solidFill>
                <a:srgbClr val="5B277D"/>
              </a:solidFill>
              <a:latin typeface="Arial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7558200" y="1696680"/>
            <a:ext cx="4329000" cy="378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050" b="1" strike="noStrike" spc="-1">
                <a:solidFill>
                  <a:srgbClr val="5B277D"/>
                </a:solidFill>
                <a:latin typeface="Arial"/>
              </a:rPr>
              <a:t>        my_neighbors = portion of neighbors of u assigned to this process</a:t>
            </a:r>
          </a:p>
          <a:p>
            <a:endParaRPr lang="en-US" sz="1050" b="1" strike="noStrike" spc="-1">
              <a:solidFill>
                <a:srgbClr val="5B277D"/>
              </a:solidFill>
              <a:latin typeface="Arial"/>
            </a:endParaRPr>
          </a:p>
          <a:p>
            <a:r>
              <a:rPr lang="en-US" sz="1050" b="1" strike="noStrike" spc="-1">
                <a:solidFill>
                  <a:srgbClr val="5B277D"/>
                </a:solidFill>
                <a:latin typeface="Arial"/>
              </a:rPr>
              <a:t>        local_updates = []</a:t>
            </a:r>
          </a:p>
          <a:p>
            <a:r>
              <a:rPr lang="en-US" sz="1050" b="1" strike="noStrike" spc="-1">
                <a:solidFill>
                  <a:srgbClr val="5B277D"/>
                </a:solidFill>
                <a:latin typeface="Arial"/>
              </a:rPr>
              <a:t>        for each neighbor v in my_neighbors:</a:t>
            </a:r>
          </a:p>
          <a:p>
            <a:r>
              <a:rPr lang="en-US" sz="1050" b="1" strike="noStrike" spc="-1">
                <a:solidFill>
                  <a:srgbClr val="5B277D"/>
                </a:solidFill>
                <a:latin typeface="Arial"/>
              </a:rPr>
              <a:t>            if v is not visited and weight(u, v) &lt; dist[v]:</a:t>
            </a:r>
          </a:p>
          <a:p>
            <a:r>
              <a:rPr lang="en-US" sz="1050" b="1" strike="noStrike" spc="-1">
                <a:solidFill>
                  <a:srgbClr val="5B277D"/>
                </a:solidFill>
                <a:latin typeface="Arial"/>
              </a:rPr>
              <a:t>                local_updates.append((v, weight(u, v)))</a:t>
            </a:r>
          </a:p>
          <a:p>
            <a:endParaRPr lang="en-US" sz="1050" b="1" strike="noStrike" spc="-1">
              <a:solidFill>
                <a:srgbClr val="5B277D"/>
              </a:solidFill>
              <a:latin typeface="Arial"/>
            </a:endParaRPr>
          </a:p>
          <a:p>
            <a:r>
              <a:rPr lang="en-US" sz="1050" b="1" strike="noStrike" spc="-1">
                <a:solidFill>
                  <a:srgbClr val="5B277D"/>
                </a:solidFill>
                <a:latin typeface="Arial"/>
              </a:rPr>
              <a:t>        if rank != MASTER:</a:t>
            </a:r>
          </a:p>
          <a:p>
            <a:r>
              <a:rPr lang="en-US" sz="1050" b="1" strike="noStrike" spc="-1">
                <a:solidFill>
                  <a:srgbClr val="5B277D"/>
                </a:solidFill>
                <a:latin typeface="Arial"/>
              </a:rPr>
              <a:t>            send local_updates to MASTER()</a:t>
            </a:r>
          </a:p>
          <a:p>
            <a:endParaRPr lang="en-US" sz="1050" b="1" strike="noStrike" spc="-1">
              <a:solidFill>
                <a:srgbClr val="5B277D"/>
              </a:solidFill>
              <a:latin typeface="Arial"/>
            </a:endParaRPr>
          </a:p>
          <a:p>
            <a:r>
              <a:rPr lang="en-US" sz="1050" b="1" strike="noStrike" spc="-1">
                <a:solidFill>
                  <a:srgbClr val="5B277D"/>
                </a:solidFill>
                <a:latin typeface="Arial"/>
              </a:rPr>
              <a:t>        if rank == MASTER:</a:t>
            </a:r>
          </a:p>
          <a:p>
            <a:r>
              <a:rPr lang="en-US" sz="1050" b="1" strike="noStrike" spc="-1">
                <a:solidFill>
                  <a:srgbClr val="5B277D"/>
                </a:solidFill>
                <a:latin typeface="Arial"/>
              </a:rPr>
              <a:t>            for each process:</a:t>
            </a:r>
          </a:p>
          <a:p>
            <a:r>
              <a:rPr lang="en-US" sz="1050" b="1" strike="noStrike" spc="-1">
                <a:solidFill>
                  <a:srgbClr val="5B277D"/>
                </a:solidFill>
                <a:latin typeface="Arial"/>
              </a:rPr>
              <a:t>                receive updates from process()</a:t>
            </a:r>
          </a:p>
          <a:p>
            <a:r>
              <a:rPr lang="en-US" sz="1050" b="1" strike="noStrike" spc="-1">
                <a:solidFill>
                  <a:srgbClr val="5B277D"/>
                </a:solidFill>
                <a:latin typeface="Arial"/>
              </a:rPr>
              <a:t>                for each (v, w) in updates:</a:t>
            </a:r>
          </a:p>
          <a:p>
            <a:r>
              <a:rPr lang="en-US" sz="1050" b="1" strike="noStrike" spc="-1">
                <a:solidFill>
                  <a:srgbClr val="5B277D"/>
                </a:solidFill>
                <a:latin typeface="Arial"/>
              </a:rPr>
              <a:t>                    if w &lt; dist[v]:</a:t>
            </a:r>
          </a:p>
          <a:p>
            <a:r>
              <a:rPr lang="en-US" sz="1050" b="1" strike="noStrike" spc="-1">
                <a:solidFill>
                  <a:srgbClr val="5B277D"/>
                </a:solidFill>
                <a:latin typeface="Arial"/>
              </a:rPr>
              <a:t>                        dist[v] = w</a:t>
            </a:r>
          </a:p>
          <a:p>
            <a:r>
              <a:rPr lang="en-US" sz="1050" b="1" strike="noStrike" spc="-1">
                <a:solidFill>
                  <a:srgbClr val="5B277D"/>
                </a:solidFill>
                <a:latin typeface="Arial"/>
              </a:rPr>
              <a:t>                        parent[v] = u</a:t>
            </a:r>
          </a:p>
          <a:p>
            <a:endParaRPr lang="en-US" sz="1050" b="1" strike="noStrike" spc="-1">
              <a:solidFill>
                <a:srgbClr val="5B277D"/>
              </a:solidFill>
              <a:latin typeface="Arial"/>
            </a:endParaRPr>
          </a:p>
          <a:p>
            <a:r>
              <a:rPr lang="en-US" sz="1050" b="1" strike="noStrike" spc="-1">
                <a:solidFill>
                  <a:srgbClr val="5B277D"/>
                </a:solidFill>
                <a:latin typeface="Arial"/>
              </a:rPr>
              <a:t>    if rank == MASTER:</a:t>
            </a:r>
          </a:p>
          <a:p>
            <a:r>
              <a:rPr lang="en-US" sz="1050" b="1" strike="noStrike" spc="-1">
                <a:solidFill>
                  <a:srgbClr val="5B277D"/>
                </a:solidFill>
                <a:latin typeface="Arial"/>
              </a:rPr>
              <a:t>        send_terminate_signal(-1)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3" descr="A graph with different colored lines&#10;&#10;Description automatically generated"/>
          <p:cNvPicPr/>
          <p:nvPr/>
        </p:nvPicPr>
        <p:blipFill>
          <a:blip r:embed="rId2"/>
          <a:stretch/>
        </p:blipFill>
        <p:spPr>
          <a:xfrm>
            <a:off x="1600200" y="399600"/>
            <a:ext cx="8055720" cy="6001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9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21280" y="786240"/>
            <a:ext cx="3508560" cy="2007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400" b="1" strike="noStrike" spc="-100">
                <a:solidFill>
                  <a:srgbClr val="000000"/>
                </a:solidFill>
                <a:latin typeface="바탕"/>
                <a:ea typeface="바탕"/>
              </a:rPr>
              <a:t>Hybrid (OpenMP + MPI)</a:t>
            </a:r>
            <a:br>
              <a:rPr sz="3400"/>
            </a:br>
            <a:endParaRPr lang="en-US" sz="3400" b="0" strike="noStrike" spc="-1">
              <a:latin typeface="Arial"/>
            </a:endParaRPr>
          </a:p>
        </p:txBody>
      </p:sp>
      <p:sp>
        <p:nvSpPr>
          <p:cNvPr id="146" name="Straight Connector 11"/>
          <p:cNvSpPr/>
          <p:nvPr/>
        </p:nvSpPr>
        <p:spPr>
          <a:xfrm flipH="1">
            <a:off x="568440" y="576000"/>
            <a:ext cx="1105488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10200" y="2286000"/>
            <a:ext cx="3276000" cy="285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rmAutofit fontScale="89000"/>
          </a:bodyPr>
          <a:lstStyle/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venir Next LT Pro Light"/>
              </a:rPr>
              <a:t>Abordare identică ca în cazul MPI simplu, dar adaugarea paralelizării la nivel local în fiecare WORKER (for-uri executate paralel).</a:t>
            </a:r>
            <a:endParaRPr lang="en-US" sz="1800" b="0" strike="noStrike" spc="-1">
              <a:latin typeface="Arial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venir Next LT Pro Light"/>
              </a:rPr>
              <a:t>Cel mai bun timp obținut pentru 4 thread-uri pe proces MPI.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buNone/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48" name="Straight Connector 13"/>
          <p:cNvSpPr/>
          <p:nvPr/>
        </p:nvSpPr>
        <p:spPr>
          <a:xfrm>
            <a:off x="4419360" y="588240"/>
            <a:ext cx="360" cy="56980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49" name="Picture 4" descr="A graph with blue lines&#10;&#10;Description automatically generated"/>
          <p:cNvPicPr/>
          <p:nvPr/>
        </p:nvPicPr>
        <p:blipFill>
          <a:blip r:embed="rId2"/>
          <a:stretch/>
        </p:blipFill>
        <p:spPr>
          <a:xfrm>
            <a:off x="4707000" y="877320"/>
            <a:ext cx="6912720" cy="5149800"/>
          </a:xfrm>
          <a:prstGeom prst="rect">
            <a:avLst/>
          </a:prstGeom>
          <a:ln w="0">
            <a:noFill/>
          </a:ln>
        </p:spPr>
      </p:pic>
      <p:sp>
        <p:nvSpPr>
          <p:cNvPr id="150" name="Straight Connector 15"/>
          <p:cNvSpPr/>
          <p:nvPr/>
        </p:nvSpPr>
        <p:spPr>
          <a:xfrm flipH="1">
            <a:off x="571320" y="6286320"/>
            <a:ext cx="1105488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8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21280" y="786240"/>
            <a:ext cx="3389400" cy="510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ro-RO" sz="4000" b="1" strike="noStrike" spc="-100">
                <a:solidFill>
                  <a:srgbClr val="000000"/>
                </a:solidFill>
                <a:latin typeface="바탕"/>
                <a:ea typeface="바탕"/>
              </a:rPr>
              <a:t>Rezultate obținute 1/2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53" name="Straight Connector 10"/>
          <p:cNvSpPr/>
          <p:nvPr/>
        </p:nvSpPr>
        <p:spPr>
          <a:xfrm flipH="1">
            <a:off x="571320" y="6286320"/>
            <a:ext cx="1104912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4" name="Straight Connector 12"/>
          <p:cNvSpPr/>
          <p:nvPr/>
        </p:nvSpPr>
        <p:spPr>
          <a:xfrm>
            <a:off x="4419360" y="571320"/>
            <a:ext cx="360" cy="5715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5" name="Straight Connector 14"/>
          <p:cNvSpPr/>
          <p:nvPr/>
        </p:nvSpPr>
        <p:spPr>
          <a:xfrm flipH="1">
            <a:off x="571320" y="571320"/>
            <a:ext cx="1104912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809528" y="853380"/>
            <a:ext cx="6692040" cy="4970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rmAutofit fontScale="81500" lnSpcReduction="20000"/>
          </a:bodyPr>
          <a:lstStyle/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Rezultatele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obținute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au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fost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analizate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în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urma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rularii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algoritmilor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paraleli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pe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datele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grafului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5,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fiind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cel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mai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mare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poate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oferi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cele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mai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coerente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rezultate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ale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paralelizării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(150000 de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noduri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).</a:t>
            </a:r>
            <a:endParaRPr lang="en-US" sz="15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Execuția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Secvențială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: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Timpul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execuție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crește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exponențial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cu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dimensiunea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grafului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.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exemplu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, un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graf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mare (150.000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noduri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) a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necesitat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peste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180 de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secunde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.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Profiling-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ul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a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indicat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utilizarea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limitată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a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resurselor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procesorului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, cu Logical Core Utilization sub 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3%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subliniind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necesitatea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paralelizării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obținând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prin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implementări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paralele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aproximativ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34% (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procentaj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limitat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citirea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datelor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grafului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).</a:t>
            </a:r>
            <a:endParaRPr lang="en-US" sz="15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Implementarea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cu OpenMP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: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A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oferit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cea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mai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bună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performanță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pe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mașinile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de test,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reducând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timpul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execuție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la 36.502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secunde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pentru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16 thread-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uri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configurația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de Dynamic Scheduling cu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ChunckSize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= 2048.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Speedup-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ul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a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fost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aproape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linear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până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la 8 thread-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uri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dar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creșterea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a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scăzut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ușor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apoi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crescând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mai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mult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numărului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de thread-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uri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.</a:t>
            </a:r>
            <a:endParaRPr lang="en-US" sz="15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Pthreads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: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Deși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permite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paralelizare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crearea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si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încheierea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thread-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urilor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și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sincronizarea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prin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mutex a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generat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un overhead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semnificativ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.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Astfel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timpii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execuție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au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fost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mai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mari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execuția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timpul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cel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mai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bun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obținându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-se la o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configurație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de 4 thread-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uri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.</a:t>
            </a:r>
            <a:endParaRPr lang="en-US" sz="15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15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8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21280" y="786240"/>
            <a:ext cx="3389400" cy="510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ro-RO" sz="4000" b="1" strike="noStrike" spc="-100">
                <a:solidFill>
                  <a:srgbClr val="000000"/>
                </a:solidFill>
                <a:latin typeface="바탕"/>
                <a:ea typeface="바탕"/>
              </a:rPr>
              <a:t>Rezultate obținute 2/2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59" name="Straight Connector 10"/>
          <p:cNvSpPr/>
          <p:nvPr/>
        </p:nvSpPr>
        <p:spPr>
          <a:xfrm flipH="1">
            <a:off x="571320" y="6286320"/>
            <a:ext cx="1104912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0" name="Straight Connector 12"/>
          <p:cNvSpPr/>
          <p:nvPr/>
        </p:nvSpPr>
        <p:spPr>
          <a:xfrm>
            <a:off x="4419360" y="571320"/>
            <a:ext cx="360" cy="5715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1" name="Straight Connector 14"/>
          <p:cNvSpPr/>
          <p:nvPr/>
        </p:nvSpPr>
        <p:spPr>
          <a:xfrm flipH="1">
            <a:off x="571320" y="571320"/>
            <a:ext cx="1104912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4921740" y="786240"/>
            <a:ext cx="6692040" cy="4970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rmAutofit fontScale="92500"/>
          </a:bodyPr>
          <a:lstStyle/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MPI (Message Passing Interface)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: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Performanțe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bune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pentru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un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număr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moderat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procese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.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Timpul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execuție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a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scăzut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până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la 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108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secunde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pentru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4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procese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.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La un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număr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mai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mare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procese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costurile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comunicare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au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devenit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dominante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reducând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eficiența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.</a:t>
            </a:r>
            <a:endParaRPr lang="en-US" sz="15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Implementarea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Hybrid (OpenMP + MPI)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: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A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combinat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avantajele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resurselor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locale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și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distribuite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atingând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cel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mai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bun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timp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de 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80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secunde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pentru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4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procese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MPI cu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câte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4 thread-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uri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fiecare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.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Totuși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, overhead-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ul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comunicare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limitează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beneficiile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la un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număr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mare de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workeri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.</a:t>
            </a:r>
            <a:endParaRPr lang="en-US" sz="15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Comparație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 err="1">
                <a:solidFill>
                  <a:srgbClr val="000000"/>
                </a:solidFill>
                <a:latin typeface="Arial"/>
              </a:rPr>
              <a:t>Generală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: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OpenMP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este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ideal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pentru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paralelizarea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locală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.</a:t>
            </a:r>
            <a:endParaRPr lang="en-US" sz="1500" b="0" strike="noStrike" spc="-1" dirty="0">
              <a:latin typeface="Arial"/>
            </a:endParaRPr>
          </a:p>
          <a:p>
            <a:pPr marL="432000" indent="-3240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MPI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și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1" strike="noStrike" spc="-1" dirty="0">
                <a:solidFill>
                  <a:srgbClr val="000000"/>
                </a:solidFill>
                <a:latin typeface="Arial"/>
              </a:rPr>
              <a:t>Hybrid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pot fi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folosite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mai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eficient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pe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sisteme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strike="noStrike" spc="-1" dirty="0" err="1">
                <a:solidFill>
                  <a:srgbClr val="000000"/>
                </a:solidFill>
                <a:latin typeface="Arial"/>
              </a:rPr>
              <a:t>distribuite</a:t>
            </a:r>
            <a:r>
              <a:rPr lang="en-US" sz="1500" b="0" strike="noStrike" spc="-1" dirty="0">
                <a:solidFill>
                  <a:srgbClr val="000000"/>
                </a:solidFill>
                <a:latin typeface="Arial"/>
              </a:rPr>
              <a:t>.</a:t>
            </a:r>
            <a:endParaRPr lang="en-US" sz="15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15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Picture 162"/>
          <p:cNvPicPr/>
          <p:nvPr/>
        </p:nvPicPr>
        <p:blipFill>
          <a:blip r:embed="rId2"/>
          <a:stretch/>
        </p:blipFill>
        <p:spPr>
          <a:xfrm>
            <a:off x="2490840" y="747000"/>
            <a:ext cx="7229160" cy="5385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163"/>
          <p:cNvPicPr/>
          <p:nvPr/>
        </p:nvPicPr>
        <p:blipFill>
          <a:blip r:embed="rId2"/>
          <a:stretch/>
        </p:blipFill>
        <p:spPr>
          <a:xfrm>
            <a:off x="2490840" y="747000"/>
            <a:ext cx="7229160" cy="5385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Picture 164"/>
          <p:cNvPicPr/>
          <p:nvPr/>
        </p:nvPicPr>
        <p:blipFill>
          <a:blip r:embed="rId2"/>
          <a:stretch/>
        </p:blipFill>
        <p:spPr>
          <a:xfrm>
            <a:off x="2490840" y="747000"/>
            <a:ext cx="7229160" cy="5385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traight Connector 9"/>
          <p:cNvSpPr/>
          <p:nvPr/>
        </p:nvSpPr>
        <p:spPr>
          <a:xfrm flipH="1">
            <a:off x="571320" y="571320"/>
            <a:ext cx="1105992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7" name="Straight Connector 11"/>
          <p:cNvSpPr/>
          <p:nvPr/>
        </p:nvSpPr>
        <p:spPr>
          <a:xfrm>
            <a:off x="7742160" y="571320"/>
            <a:ext cx="360" cy="5715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8" name="Straight Connector 13"/>
          <p:cNvSpPr/>
          <p:nvPr/>
        </p:nvSpPr>
        <p:spPr>
          <a:xfrm flipH="1">
            <a:off x="577440" y="6283440"/>
            <a:ext cx="1105956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9" name="Rectangle 15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521280" y="822960"/>
            <a:ext cx="3463200" cy="3453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800" b="1" strike="noStrike" spc="-100">
                <a:solidFill>
                  <a:srgbClr val="000000"/>
                </a:solidFill>
                <a:latin typeface="바탕"/>
                <a:ea typeface="바탕"/>
              </a:rPr>
              <a:t>Concluzii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171" name="Straight Connector 17"/>
          <p:cNvSpPr/>
          <p:nvPr/>
        </p:nvSpPr>
        <p:spPr>
          <a:xfrm>
            <a:off x="4419360" y="571320"/>
            <a:ext cx="360" cy="5715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2" name="Straight Connector 19"/>
          <p:cNvSpPr/>
          <p:nvPr/>
        </p:nvSpPr>
        <p:spPr>
          <a:xfrm flipH="1">
            <a:off x="560520" y="571320"/>
            <a:ext cx="1105992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3" name="Straight Connector 21"/>
          <p:cNvSpPr/>
          <p:nvPr/>
        </p:nvSpPr>
        <p:spPr>
          <a:xfrm flipH="1">
            <a:off x="571320" y="6286320"/>
            <a:ext cx="1105992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74" name="Picture 173"/>
          <p:cNvPicPr/>
          <p:nvPr/>
        </p:nvPicPr>
        <p:blipFill>
          <a:blip r:embed="rId2"/>
          <a:stretch/>
        </p:blipFill>
        <p:spPr>
          <a:xfrm>
            <a:off x="4750920" y="1371600"/>
            <a:ext cx="6679080" cy="4332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92441"/>
      </a:dk2>
      <a:lt2>
        <a:srgbClr val="E7E2E8"/>
      </a:lt2>
      <a:accent1>
        <a:srgbClr val="8BAA80"/>
      </a:accent1>
      <a:accent2>
        <a:srgbClr val="76AD7F"/>
      </a:accent2>
      <a:accent3>
        <a:srgbClr val="81AA99"/>
      </a:accent3>
      <a:accent4>
        <a:srgbClr val="73A9A9"/>
      </a:accent4>
      <a:accent5>
        <a:srgbClr val="85A5BD"/>
      </a:accent5>
      <a:accent6>
        <a:srgbClr val="7F89BA"/>
      </a:accent6>
      <a:hlink>
        <a:srgbClr val="9D69AE"/>
      </a:hlink>
      <a:folHlink>
        <a:srgbClr val="7F7F7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92441"/>
      </a:dk2>
      <a:lt2>
        <a:srgbClr val="E7E2E8"/>
      </a:lt2>
      <a:accent1>
        <a:srgbClr val="8BAA80"/>
      </a:accent1>
      <a:accent2>
        <a:srgbClr val="76AD7F"/>
      </a:accent2>
      <a:accent3>
        <a:srgbClr val="81AA99"/>
      </a:accent3>
      <a:accent4>
        <a:srgbClr val="73A9A9"/>
      </a:accent4>
      <a:accent5>
        <a:srgbClr val="85A5BD"/>
      </a:accent5>
      <a:accent6>
        <a:srgbClr val="7F89BA"/>
      </a:accent6>
      <a:hlink>
        <a:srgbClr val="9D69AE"/>
      </a:hlink>
      <a:folHlink>
        <a:srgbClr val="7F7F7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1743</Words>
  <Application>Microsoft Office PowerPoint</Application>
  <PresentationFormat>Widescreen</PresentationFormat>
  <Paragraphs>167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바탕</vt:lpstr>
      <vt:lpstr>Arial</vt:lpstr>
      <vt:lpstr>Avenir Next LT Pro Light</vt:lpstr>
      <vt:lpstr>Avenir Next LT Pro Light (Body)</vt:lpstr>
      <vt:lpstr>Symbol</vt:lpstr>
      <vt:lpstr>Times New Roman</vt:lpstr>
      <vt:lpstr>Wingdings</vt:lpstr>
      <vt:lpstr>Office Theme</vt:lpstr>
      <vt:lpstr>Office Theme</vt:lpstr>
      <vt:lpstr>Optimizarea Algoritmului lui Prim prin Paralelizare  </vt:lpstr>
      <vt:lpstr>Definirea problemei </vt:lpstr>
      <vt:lpstr>PowerPoint Presentation</vt:lpstr>
      <vt:lpstr>Motivarea necesității paralelizării </vt:lpstr>
      <vt:lpstr>OpenMP</vt:lpstr>
      <vt:lpstr>PowerPoint Presentation</vt:lpstr>
      <vt:lpstr>Pthreads</vt:lpstr>
      <vt:lpstr>PowerPoint Presentation</vt:lpstr>
      <vt:lpstr>MPI</vt:lpstr>
      <vt:lpstr>PowerPoint Presentation</vt:lpstr>
      <vt:lpstr>Hybrid (OpenMP + MPI) </vt:lpstr>
      <vt:lpstr>Rezultate obținute 1/2</vt:lpstr>
      <vt:lpstr>Rezultate obținute 2/2</vt:lpstr>
      <vt:lpstr>PowerPoint Presentation</vt:lpstr>
      <vt:lpstr>PowerPoint Presentation</vt:lpstr>
      <vt:lpstr>PowerPoint Presentation</vt:lpstr>
      <vt:lpstr>Concluzii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Florin-Ioan SUBŢIRICĂ (123781)</dc:creator>
  <dc:description/>
  <cp:lastModifiedBy>Florin-Ioan SUBŢIRICĂ (123781)</cp:lastModifiedBy>
  <cp:revision>9</cp:revision>
  <dcterms:created xsi:type="dcterms:W3CDTF">2025-01-05T20:32:25Z</dcterms:created>
  <dcterms:modified xsi:type="dcterms:W3CDTF">2025-01-06T18:09:24Z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10</vt:i4>
  </property>
</Properties>
</file>